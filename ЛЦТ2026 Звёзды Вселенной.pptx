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2" r:id="rId2"/>
    <p:sldId id="263" r:id="rId3"/>
    <p:sldId id="264" r:id="rId4"/>
    <p:sldId id="265" r:id="rId5"/>
    <p:sldId id="266" r:id="rId6"/>
    <p:sldId id="268" r:id="rId7"/>
    <p:sldId id="281" r:id="rId8"/>
    <p:sldId id="269" r:id="rId9"/>
    <p:sldId id="271" r:id="rId10"/>
    <p:sldId id="272" r:id="rId11"/>
    <p:sldId id="275" r:id="rId12"/>
    <p:sldId id="280" r:id="rId13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286186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3060741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945298275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110873429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99038584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92062992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B2B0A1-AC33-944C-9FB1-BCB03F94532D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766981-6660-9A41-1CAE-210D5AB950E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348024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3104625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1899153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67204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16749760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50435877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DB1EED-C0D5-ED23-88E5-DC89365F0234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5B12BB-E1FA-72CB-7BB5-62DBA258C6AF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DAC97-4CAF-B7E4-085A-7BE33294D78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FE706-FD26-13A5-B350-3D9BA3C48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A9D44-44E6-5C2F-3801-27166D87E4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11572-D170-59D6-6B92-8D8F318DF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5B12BB-E1FA-72CB-7BB5-62DBA258C6AF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306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93174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0697842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54125161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31EF2D-1189-D109-9EE7-CE846EA5EABD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76084-B18E-97E2-061B-F2D7A76AE05F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D6D65-3AF1-8332-6597-334E6877CA88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1F711E-7D27-AB26-DFC4-45FF4A74D30C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09501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753150644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534930963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1428067205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012845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74083884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28771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5978100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286604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718545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2119041402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105398170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653478624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92930436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702467666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953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205667401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6511498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819840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4947828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23147442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93656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037715083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064088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3498310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67793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3887924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44905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31148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87996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35774622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2087654718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0413721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21072223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998428007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0696670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77433886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8791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71403556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1662481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416528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35204720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0881391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0693200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46548762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9279226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08893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1128382161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4639281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5757417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49322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39247511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4105962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91566407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937950240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63225457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38807070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230655731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10443579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8083064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41524184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353778565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528838041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29241774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99513283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45600259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39781868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1091082300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909922311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1560332462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740075267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24364958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212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44221227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5783331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831507727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526831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2697907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24594266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6726805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93851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7508721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9933201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0768579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642832850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79564321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65426741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56732904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4219630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57853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26627668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6399717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0036725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32449292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1906997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37887246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86018014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87608140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0971910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06317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202043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89092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30929878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7508713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28197920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029363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48911060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85150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717704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38529662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182436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31105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94973083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0947127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365323553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2805321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3068334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45123868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9344737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86165851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12894176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99550167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1923114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54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8089786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585689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01436352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29700461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3691706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40932946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57921925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713161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5937197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05282779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66696688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7561748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85482812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68949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81172454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0029136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06495165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79889611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222272328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2007678756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57286041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26424371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276671514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91420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19220367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193220350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6518877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78606613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94969855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1883142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6784172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4609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26157351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942614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81501074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2241207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81179519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7338900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157378274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6422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892469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35197285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29932446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7718624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743897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44730281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0365292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40594562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400764184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9307052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45668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709588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2585712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2033459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61536473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51859923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18862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112862547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98388620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3436604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0523004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154176869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05303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61784853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50189029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00506841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43108328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5487987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01441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87361421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285362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6851157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1172449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mailto:dvigsproject@yandex.ru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892815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 dirty="0"/>
              <a:t>Звёзды Вселенной</a:t>
            </a:r>
          </a:p>
        </p:txBody>
      </p:sp>
      <p:sp>
        <p:nvSpPr>
          <p:cNvPr id="1003193724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indent="268288">
              <a:defRPr/>
            </a:pPr>
            <a:r>
              <a:rPr lang="ru-RU" dirty="0"/>
              <a:t>Задача бизнеса №1 «Сервис для автоматизированного сбора и анализа зарождающихся трендов (слабые сигналы) в научно-технологических отраслях</a:t>
            </a:r>
          </a:p>
        </p:txBody>
      </p:sp>
      <p:sp>
        <p:nvSpPr>
          <p:cNvPr id="1981707913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35526D9-8BBB-DC00-443D-85F57B66EA7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-381" r="-3009" b="-19326"/>
          <a:stretch>
            <a:fillRect/>
          </a:stretch>
        </p:blipFill>
        <p:spPr bwMode="auto">
          <a:xfrm>
            <a:off x="124864" y="441325"/>
            <a:ext cx="5703583" cy="9379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88574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385993362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1766527713" name="Текст 8"/>
          <p:cNvSpPr txBox="1"/>
          <p:nvPr/>
        </p:nvSpPr>
        <p:spPr bwMode="auto">
          <a:xfrm>
            <a:off x="6836606" y="4876070"/>
            <a:ext cx="5136020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900" dirty="0">
                <a:solidFill>
                  <a:schemeClr val="tx1"/>
                </a:solidFill>
              </a:rPr>
              <a:t>AI </a:t>
            </a:r>
            <a:r>
              <a:rPr lang="ru-RU" sz="900" dirty="0" err="1">
                <a:solidFill>
                  <a:schemeClr val="tx1"/>
                </a:solidFill>
              </a:rPr>
              <a:t>Consensus</a:t>
            </a:r>
            <a:r>
              <a:rPr lang="ru-RU" sz="900" dirty="0">
                <a:solidFill>
                  <a:schemeClr val="tx1"/>
                </a:solidFill>
              </a:rPr>
              <a:t> — две модели (</a:t>
            </a:r>
            <a:r>
              <a:rPr lang="ru-RU" sz="900" dirty="0" err="1">
                <a:solidFill>
                  <a:schemeClr val="tx1"/>
                </a:solidFill>
              </a:rPr>
              <a:t>YandexGPT</a:t>
            </a:r>
            <a:r>
              <a:rPr lang="ru-RU" sz="900" dirty="0">
                <a:solidFill>
                  <a:schemeClr val="tx1"/>
                </a:solidFill>
              </a:rPr>
              <a:t> + </a:t>
            </a:r>
            <a:r>
              <a:rPr lang="ru-RU" sz="900" dirty="0" err="1">
                <a:solidFill>
                  <a:schemeClr val="tx1"/>
                </a:solidFill>
              </a:rPr>
              <a:t>GigaChat</a:t>
            </a:r>
            <a:r>
              <a:rPr lang="ru-RU" sz="900" dirty="0">
                <a:solidFill>
                  <a:schemeClr val="tx1"/>
                </a:solidFill>
              </a:rPr>
              <a:t>) проверяют друг друга, расхождения </a:t>
            </a:r>
            <a:r>
              <a:rPr lang="ru-RU" sz="900" dirty="0" err="1">
                <a:solidFill>
                  <a:schemeClr val="tx1"/>
                </a:solidFill>
              </a:rPr>
              <a:t>эскалируются</a:t>
            </a:r>
            <a:r>
              <a:rPr lang="ru-RU" sz="900" dirty="0">
                <a:solidFill>
                  <a:schemeClr val="tx1"/>
                </a:solidFill>
              </a:rPr>
              <a:t> эксперту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900" dirty="0" err="1">
                <a:solidFill>
                  <a:schemeClr val="tx1"/>
                </a:solidFill>
              </a:rPr>
              <a:t>Signal</a:t>
            </a:r>
            <a:r>
              <a:rPr lang="ru-RU" sz="900" dirty="0">
                <a:solidFill>
                  <a:schemeClr val="tx1"/>
                </a:solidFill>
              </a:rPr>
              <a:t> Engine — собственная бизнес-логика и скоринг, а не передача решений LLM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900" dirty="0">
                <a:solidFill>
                  <a:schemeClr val="tx1"/>
                </a:solidFill>
              </a:rPr>
              <a:t>Интерпретируемость — система объясняет, почему сигнал признан слабым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900" dirty="0">
                <a:solidFill>
                  <a:schemeClr val="tx1"/>
                </a:solidFill>
              </a:rPr>
              <a:t>Фильтрация мейнстрима — отсев зрелых трендов, стандартов и хайпа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900" dirty="0">
                <a:solidFill>
                  <a:schemeClr val="tx1"/>
                </a:solidFill>
              </a:rPr>
              <a:t>От сигнала к продукту — не «что произошло», а «что это меняет для банка»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900" dirty="0">
                <a:solidFill>
                  <a:schemeClr val="tx1"/>
                </a:solidFill>
              </a:rPr>
              <a:t>Работа на опережение — обнаружение конвергенции сигналов до формирования тренда</a:t>
            </a:r>
          </a:p>
        </p:txBody>
      </p:sp>
      <p:sp>
        <p:nvSpPr>
          <p:cNvPr id="108859152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Грибанов Дмитрий Алексеевич, Разработчик роботехнической платформы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5 человек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Поиск и знакомство из чата хакатона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РЭУ им. Плеханова, ФГБНУ </a:t>
            </a:r>
            <a:r>
              <a:rPr lang="ru-RU" i="1" dirty="0" err="1">
                <a:solidFill>
                  <a:schemeClr val="tx1"/>
                </a:solidFill>
              </a:rPr>
              <a:t>Росинформагротех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Россия, разные города</a:t>
            </a:r>
            <a:endParaRPr dirty="0"/>
          </a:p>
        </p:txBody>
      </p:sp>
      <p:sp>
        <p:nvSpPr>
          <p:cNvPr id="712045603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1491488877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Звёзды Вселенной</a:t>
            </a:r>
          </a:p>
        </p:txBody>
      </p:sp>
      <p:cxnSp>
        <p:nvCxnSpPr>
          <p:cNvPr id="109896208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78863173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2811937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39582164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576850107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100" dirty="0">
                <a:solidFill>
                  <a:schemeClr val="tx1"/>
                </a:solidFill>
              </a:rPr>
              <a:t>Сервис автоматически собирает данные из открытых источников (</a:t>
            </a:r>
            <a:r>
              <a:rPr lang="ru-RU" sz="1100" dirty="0" err="1">
                <a:solidFill>
                  <a:schemeClr val="tx1"/>
                </a:solidFill>
              </a:rPr>
              <a:t>регуляторика</a:t>
            </a:r>
            <a:r>
              <a:rPr lang="ru-RU" sz="1100" dirty="0">
                <a:solidFill>
                  <a:schemeClr val="tx1"/>
                </a:solidFill>
              </a:rPr>
              <a:t>, патенты, публикации, рыночные данные, ВЭД-статистика) и выявляет слабые сигналы — ранние индикаторы зарождающихся трендов.</a:t>
            </a:r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100" dirty="0">
                <a:solidFill>
                  <a:schemeClr val="tx1"/>
                </a:solidFill>
              </a:rPr>
              <a:t>Данные обрабатываются через </a:t>
            </a:r>
            <a:r>
              <a:rPr lang="ru-RU" sz="1100" dirty="0" err="1">
                <a:solidFill>
                  <a:schemeClr val="tx1"/>
                </a:solidFill>
              </a:rPr>
              <a:t>YandexGPT</a:t>
            </a:r>
            <a:r>
              <a:rPr lang="ru-RU" sz="1100" dirty="0">
                <a:solidFill>
                  <a:schemeClr val="tx1"/>
                </a:solidFill>
              </a:rPr>
              <a:t> + </a:t>
            </a:r>
            <a:r>
              <a:rPr lang="ru-RU" sz="1100" dirty="0" err="1">
                <a:solidFill>
                  <a:schemeClr val="tx1"/>
                </a:solidFill>
              </a:rPr>
              <a:t>GigaChat</a:t>
            </a:r>
            <a:r>
              <a:rPr lang="ru-RU" sz="1100" dirty="0">
                <a:solidFill>
                  <a:schemeClr val="tx1"/>
                </a:solidFill>
              </a:rPr>
              <a:t> (AI </a:t>
            </a:r>
            <a:r>
              <a:rPr lang="ru-RU" sz="1100" dirty="0" err="1">
                <a:solidFill>
                  <a:schemeClr val="tx1"/>
                </a:solidFill>
              </a:rPr>
              <a:t>Consensus</a:t>
            </a:r>
            <a:r>
              <a:rPr lang="ru-RU" sz="1100" dirty="0">
                <a:solidFill>
                  <a:schemeClr val="tx1"/>
                </a:solidFill>
              </a:rPr>
              <a:t>), а собственный </a:t>
            </a:r>
            <a:r>
              <a:rPr lang="ru-RU" sz="1100" dirty="0" err="1">
                <a:solidFill>
                  <a:schemeClr val="tx1"/>
                </a:solidFill>
              </a:rPr>
              <a:t>Signal</a:t>
            </a:r>
            <a:r>
              <a:rPr lang="ru-RU" sz="1100" dirty="0">
                <a:solidFill>
                  <a:schemeClr val="tx1"/>
                </a:solidFill>
              </a:rPr>
              <a:t> Engine проверяет источники, считает </a:t>
            </a:r>
            <a:r>
              <a:rPr lang="ru-RU" sz="1100" dirty="0" err="1">
                <a:solidFill>
                  <a:schemeClr val="tx1"/>
                </a:solidFill>
              </a:rPr>
              <a:t>Confidence</a:t>
            </a:r>
            <a:r>
              <a:rPr lang="ru-RU" sz="1100" dirty="0">
                <a:solidFill>
                  <a:schemeClr val="tx1"/>
                </a:solidFill>
              </a:rPr>
              <a:t> </a:t>
            </a:r>
            <a:r>
              <a:rPr lang="ru-RU" sz="1100" dirty="0" err="1">
                <a:solidFill>
                  <a:schemeClr val="tx1"/>
                </a:solidFill>
              </a:rPr>
              <a:t>Score</a:t>
            </a:r>
            <a:r>
              <a:rPr lang="ru-RU" sz="1100" dirty="0">
                <a:solidFill>
                  <a:schemeClr val="tx1"/>
                </a:solidFill>
              </a:rPr>
              <a:t>, фильтрует мейнстрим и формирует ТОП-15 трендов с карточками: описание, преимущество, кейс, источники, объяснение.</a:t>
            </a:r>
          </a:p>
        </p:txBody>
      </p:sp>
      <p:sp>
        <p:nvSpPr>
          <p:cNvPr id="429011814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A86BE0-DFC7-7700-D8DD-544B243795E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5" r="-70"/>
          <a:stretch>
            <a:fillRect/>
          </a:stretch>
        </p:blipFill>
        <p:spPr bwMode="auto">
          <a:xfrm>
            <a:off x="395833" y="830698"/>
            <a:ext cx="5948625" cy="8485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768269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74913449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Менеджмент, мобильная разработка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@nikwwix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1552982950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Вероника Кривых</a:t>
            </a:r>
            <a:endParaRPr dirty="0"/>
          </a:p>
        </p:txBody>
      </p:sp>
      <p:sp>
        <p:nvSpPr>
          <p:cNvPr id="1149120380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80028473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Алгоритмы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@Ayumikhaylov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89019089817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РЭУ им. Плеханова</a:t>
            </a:r>
          </a:p>
        </p:txBody>
      </p:sp>
      <p:sp>
        <p:nvSpPr>
          <p:cNvPr id="1313008444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Алексей Михайлов</a:t>
            </a:r>
            <a:endParaRPr dirty="0"/>
          </a:p>
        </p:txBody>
      </p:sp>
      <p:sp>
        <p:nvSpPr>
          <p:cNvPr id="944527439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0860643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Бизнес аналитика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@henridutua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237636867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Анастасия Харитонова</a:t>
            </a:r>
            <a:endParaRPr dirty="0"/>
          </a:p>
        </p:txBody>
      </p:sp>
      <p:sp>
        <p:nvSpPr>
          <p:cNvPr id="663225077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5584652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Аналитик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@Proga26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89686211403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ООО «ИСМ-ГРУП»/ФГБНУ </a:t>
            </a:r>
            <a:r>
              <a:rPr lang="ru-RU" sz="1200" dirty="0" err="1">
                <a:solidFill>
                  <a:schemeClr val="tx1"/>
                </a:solidFill>
              </a:rPr>
              <a:t>Росинформагротех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845812689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Сания Исламова</a:t>
            </a:r>
            <a:endParaRPr dirty="0"/>
          </a:p>
        </p:txBody>
      </p:sp>
      <p:sp>
        <p:nvSpPr>
          <p:cNvPr id="1520775061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89315921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3181892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035813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  <p:txBody>
          <a:bodyPr/>
          <a:lstStyle/>
          <a:p>
            <a:endParaRPr lang="ru-RU"/>
          </a:p>
        </p:txBody>
      </p:sp>
      <p:sp>
        <p:nvSpPr>
          <p:cNvPr id="454147800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2238DA-7FC6-0036-3360-93CE3BBF1C2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l="331" t="26" r="-331" b="20041"/>
          <a:stretch>
            <a:fillRect/>
          </a:stretch>
        </p:blipFill>
        <p:spPr bwMode="auto">
          <a:xfrm>
            <a:off x="5191125" y="1809750"/>
            <a:ext cx="1722438" cy="1558925"/>
          </a:xfrm>
          <a:prstGeom prst="rect">
            <a:avLst/>
          </a:prstGeom>
        </p:spPr>
      </p:pic>
      <p:sp>
        <p:nvSpPr>
          <p:cNvPr id="1305608688" name="Рисунок 4"/>
          <p:cNvSpPr>
            <a:spLocks noGrp="1"/>
          </p:cNvSpPr>
          <p:nvPr>
            <p:ph type="pic" sz="quarter" idx="4294967295"/>
          </p:nvPr>
        </p:nvSpPr>
        <p:spPr bwMode="auto">
          <a:xfrm>
            <a:off x="7520208" y="1809238"/>
            <a:ext cx="1722567" cy="1559717"/>
          </a:xfrm>
        </p:spPr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BB6ED2-4029-46CF-101C-CB689CA14C8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l="19" t="9642" r="-19" b="22478"/>
          <a:stretch>
            <a:fillRect/>
          </a:stretch>
        </p:blipFill>
        <p:spPr bwMode="auto">
          <a:xfrm>
            <a:off x="9802813" y="1809750"/>
            <a:ext cx="1722437" cy="1558925"/>
          </a:xfrm>
          <a:prstGeom prst="rect">
            <a:avLst/>
          </a:prstGeom>
        </p:spPr>
      </p:pic>
      <p:sp>
        <p:nvSpPr>
          <p:cNvPr id="1701097536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Звёзды Вселенной</a:t>
            </a:r>
          </a:p>
        </p:txBody>
      </p:sp>
      <p:sp>
        <p:nvSpPr>
          <p:cNvPr id="686458136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Веб-разработка, управление проектом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@FirstLast2020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  <a:hlinkClick r:id="rId6"/>
              </a:rPr>
              <a:t>dvigsproject@yandex.ru</a:t>
            </a:r>
            <a:endParaRPr lang="ru-RU" sz="1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Разработчик </a:t>
            </a:r>
            <a:r>
              <a:rPr lang="ru-RU" sz="1200" dirty="0" err="1">
                <a:solidFill>
                  <a:schemeClr val="tx1"/>
                </a:solidFill>
              </a:rPr>
              <a:t>роботехническойй</a:t>
            </a:r>
            <a:r>
              <a:rPr lang="ru-RU" sz="1200" dirty="0">
                <a:solidFill>
                  <a:schemeClr val="tx1"/>
                </a:solidFill>
              </a:rPr>
              <a:t> платформы</a:t>
            </a:r>
            <a:endParaRPr dirty="0"/>
          </a:p>
        </p:txBody>
      </p:sp>
      <p:sp>
        <p:nvSpPr>
          <p:cNvPr id="128286599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Дмитрий Грибанов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313117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6741361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70403536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Звёзды Вселенной</a:t>
            </a:r>
          </a:p>
        </p:txBody>
      </p:sp>
      <p:sp>
        <p:nvSpPr>
          <p:cNvPr id="198780741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9836976" cy="9342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Мы впервые собрались вместе — ранее в хакатонах не участвовали. Собрались из разных уголков страны, с разным бэкграундом и опытом: кто-то силён в ML, кто-то в бэкенде, кто-то в аналитике. Друг друга искали в чате хакатона — по сути, собрали команду с нуля под конкретную задачу. Несмотря на то, что мы не работали вместе раньше, быстро нашли общий язык и распределили роли. Для нас это не просто очередной хакатон, а возможность собрать сильное решение с нуля и проверить себя в реальной задаче.</a:t>
            </a:r>
            <a:endParaRPr dirty="0"/>
          </a:p>
        </p:txBody>
      </p:sp>
      <p:sp>
        <p:nvSpPr>
          <p:cNvPr id="1703687401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051128503" name="Текст 8"/>
          <p:cNvSpPr txBox="1"/>
          <p:nvPr/>
        </p:nvSpPr>
        <p:spPr bwMode="auto">
          <a:xfrm>
            <a:off x="533607" y="4996576"/>
            <a:ext cx="11150544" cy="15368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</a:rPr>
              <a:t>Сбор команды с нуля: Не были знакомы, не работали вместе — искали друг друга в чате хакатона по компетенциям. Преодолели через чёткое распределение ролей и быстрый старт без долгих согласований.</a:t>
            </a:r>
          </a:p>
          <a:p>
            <a:pPr marL="228600" indent="-2286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</a:rPr>
              <a:t>Разнородность данных: </a:t>
            </a:r>
            <a:r>
              <a:rPr lang="ru-RU" sz="1200" dirty="0" err="1">
                <a:solidFill>
                  <a:schemeClr val="tx1"/>
                </a:solidFill>
              </a:rPr>
              <a:t>Регуляторика</a:t>
            </a:r>
            <a:r>
              <a:rPr lang="ru-RU" sz="1200" dirty="0">
                <a:solidFill>
                  <a:schemeClr val="tx1"/>
                </a:solidFill>
              </a:rPr>
              <a:t>, патенты, публикации, рыночные данные, ВЭД-статистика — разные форматы, языки и онтологии. Выстроили единый </a:t>
            </a:r>
            <a:r>
              <a:rPr lang="ru-RU" sz="1200" dirty="0" err="1">
                <a:solidFill>
                  <a:schemeClr val="tx1"/>
                </a:solidFill>
              </a:rPr>
              <a:t>пайплайн</a:t>
            </a:r>
            <a:r>
              <a:rPr lang="ru-RU" sz="1200" dirty="0">
                <a:solidFill>
                  <a:schemeClr val="tx1"/>
                </a:solidFill>
              </a:rPr>
              <a:t> нормализации и договорились о таксономии сигналов.</a:t>
            </a:r>
          </a:p>
          <a:p>
            <a:pPr marL="228600" indent="-2286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</a:rPr>
              <a:t>Баланс между LLM и собственной логикой: Был соблазн переложить всё на </a:t>
            </a:r>
            <a:r>
              <a:rPr lang="ru-RU" sz="1200" dirty="0" err="1">
                <a:solidFill>
                  <a:schemeClr val="tx1"/>
                </a:solidFill>
              </a:rPr>
              <a:t>YandexGPT</a:t>
            </a:r>
            <a:r>
              <a:rPr lang="ru-RU" sz="1200" dirty="0">
                <a:solidFill>
                  <a:schemeClr val="tx1"/>
                </a:solidFill>
              </a:rPr>
              <a:t> и </a:t>
            </a:r>
            <a:r>
              <a:rPr lang="ru-RU" sz="1200" dirty="0" err="1">
                <a:solidFill>
                  <a:schemeClr val="tx1"/>
                </a:solidFill>
              </a:rPr>
              <a:t>GigaChat</a:t>
            </a:r>
            <a:r>
              <a:rPr lang="ru-RU" sz="1200" dirty="0">
                <a:solidFill>
                  <a:schemeClr val="tx1"/>
                </a:solidFill>
              </a:rPr>
              <a:t>, но модели не дают кросс-проверки и бизнес-логики. Построили собственный </a:t>
            </a:r>
            <a:r>
              <a:rPr lang="ru-RU" sz="1200" dirty="0" err="1">
                <a:solidFill>
                  <a:schemeClr val="tx1"/>
                </a:solidFill>
              </a:rPr>
              <a:t>Signal</a:t>
            </a:r>
            <a:r>
              <a:rPr lang="ru-RU" sz="1200" dirty="0">
                <a:solidFill>
                  <a:schemeClr val="tx1"/>
                </a:solidFill>
              </a:rPr>
              <a:t> Engine, а LLM оставили как аналитические контуры.</a:t>
            </a:r>
          </a:p>
          <a:p>
            <a:pPr marL="228600" indent="-2286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</a:rPr>
              <a:t> Фильтрация мейнстрима: Отделить слабый сигнал от зрелого тренда оказалось сложнее, чем казалось. Помогли явные правила, экспертные пороги и обучение на размеченных данных.</a:t>
            </a:r>
          </a:p>
          <a:p>
            <a:pPr marL="0" indent="0">
              <a:lnSpc>
                <a:spcPct val="100000"/>
              </a:lnSpc>
              <a:buNone/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79861189" name="Текст 8"/>
          <p:cNvSpPr txBox="1"/>
          <p:nvPr/>
        </p:nvSpPr>
        <p:spPr bwMode="auto">
          <a:xfrm>
            <a:off x="507849" y="4445728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  <a:endParaRPr dirty="0"/>
          </a:p>
        </p:txBody>
      </p:sp>
      <p:sp>
        <p:nvSpPr>
          <p:cNvPr id="1323571132" name="Текст 8"/>
          <p:cNvSpPr txBox="1"/>
          <p:nvPr/>
        </p:nvSpPr>
        <p:spPr bwMode="auto">
          <a:xfrm>
            <a:off x="533607" y="3367199"/>
            <a:ext cx="1103450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Задача про слабые сигналы зацепила тем, что она про работу на опережение. Большинство аналитических систем фиксируют уже сформировавшиеся тренды — мы же хотим научиться замечать изменения раньше, чем они станут очевидными. Это редкая возможность сделать не «ещё один дашборд», а инструмент, который реально меняет подход к принятию решений.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Отдельно вдохновила связка с ВЭД и Китаем — это живая, актуальная проблема для банков, где разрозненные сигналы (</a:t>
            </a:r>
            <a:r>
              <a:rPr lang="ru-RU" dirty="0" err="1">
                <a:solidFill>
                  <a:schemeClr val="tx1"/>
                </a:solidFill>
              </a:rPr>
              <a:t>регуляторика</a:t>
            </a:r>
            <a:r>
              <a:rPr lang="ru-RU" dirty="0">
                <a:solidFill>
                  <a:schemeClr val="tx1"/>
                </a:solidFill>
              </a:rPr>
              <a:t>, расчёты в юанях, цифровые документы, логистика) по отдельности выглядят как шум, а вместе формируют новую потребность клиентов. Хотим доказать, что систему, которая это ловит, можно построить.</a:t>
            </a:r>
            <a:endParaRPr dirty="0"/>
          </a:p>
        </p:txBody>
      </p:sp>
      <p:sp>
        <p:nvSpPr>
          <p:cNvPr id="1948273425" name="Текст 8"/>
          <p:cNvSpPr txBox="1"/>
          <p:nvPr/>
        </p:nvSpPr>
        <p:spPr bwMode="auto">
          <a:xfrm>
            <a:off x="533607" y="2838290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  <a:endParaRPr dirty="0"/>
          </a:p>
        </p:txBody>
      </p:sp>
      <p:cxnSp>
        <p:nvCxnSpPr>
          <p:cNvPr id="490196786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910081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57803769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2728880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922853194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469382730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12937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12374097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0946913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9777777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37866612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accent5"/>
                </a:solidFill>
              </a:rPr>
              <a:t>Сервис собирает данные из открытых источников (</a:t>
            </a:r>
            <a:r>
              <a:rPr lang="ru-RU" dirty="0" err="1">
                <a:solidFill>
                  <a:schemeClr val="accent5"/>
                </a:solidFill>
              </a:rPr>
              <a:t>регуляторика</a:t>
            </a:r>
            <a:r>
              <a:rPr lang="ru-RU" dirty="0">
                <a:solidFill>
                  <a:schemeClr val="accent5"/>
                </a:solidFill>
              </a:rPr>
              <a:t>, патенты, публикации, рыночные данные, ВЭД-статистика), нормализует их и обрабатывает через два аналитических контура — </a:t>
            </a:r>
            <a:r>
              <a:rPr lang="ru-RU" dirty="0" err="1">
                <a:solidFill>
                  <a:schemeClr val="accent5"/>
                </a:solidFill>
              </a:rPr>
              <a:t>YandexGPT</a:t>
            </a:r>
            <a:r>
              <a:rPr lang="ru-RU" dirty="0">
                <a:solidFill>
                  <a:schemeClr val="accent5"/>
                </a:solidFill>
              </a:rPr>
              <a:t> и </a:t>
            </a:r>
            <a:r>
              <a:rPr lang="ru-RU" dirty="0" err="1">
                <a:solidFill>
                  <a:schemeClr val="accent5"/>
                </a:solidFill>
              </a:rPr>
              <a:t>GigaChat</a:t>
            </a:r>
            <a:r>
              <a:rPr lang="ru-RU" dirty="0">
                <a:solidFill>
                  <a:schemeClr val="accent5"/>
                </a:solidFill>
              </a:rPr>
              <a:t> (AI </a:t>
            </a:r>
            <a:r>
              <a:rPr lang="ru-RU" dirty="0" err="1">
                <a:solidFill>
                  <a:schemeClr val="accent5"/>
                </a:solidFill>
              </a:rPr>
              <a:t>Consensus</a:t>
            </a:r>
            <a:r>
              <a:rPr lang="ru-RU" dirty="0">
                <a:solidFill>
                  <a:schemeClr val="accent5"/>
                </a:solidFill>
              </a:rPr>
              <a:t>). Собственный </a:t>
            </a:r>
            <a:r>
              <a:rPr lang="ru-RU" dirty="0" err="1">
                <a:solidFill>
                  <a:schemeClr val="accent5"/>
                </a:solidFill>
              </a:rPr>
              <a:t>Signal</a:t>
            </a:r>
            <a:r>
              <a:rPr lang="ru-RU" dirty="0">
                <a:solidFill>
                  <a:schemeClr val="accent5"/>
                </a:solidFill>
              </a:rPr>
              <a:t> Engine выполняет кросс-проверку по независимым источникам, скоринг, фильтрацию мейнстрима и формирует ТОП-15 зарождающихся трендов.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accent5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accent5"/>
                </a:solidFill>
              </a:rPr>
              <a:t>Стек: Python 3.8+, </a:t>
            </a:r>
            <a:r>
              <a:rPr lang="ru-RU" dirty="0" err="1">
                <a:solidFill>
                  <a:schemeClr val="accent5"/>
                </a:solidFill>
              </a:rPr>
              <a:t>PostgreSQL</a:t>
            </a:r>
            <a:r>
              <a:rPr lang="ru-RU" dirty="0">
                <a:solidFill>
                  <a:schemeClr val="accent5"/>
                </a:solidFill>
              </a:rPr>
              <a:t>, </a:t>
            </a:r>
            <a:r>
              <a:rPr lang="ru-RU" dirty="0" err="1">
                <a:solidFill>
                  <a:schemeClr val="accent5"/>
                </a:solidFill>
              </a:rPr>
              <a:t>Scikit-learn</a:t>
            </a:r>
            <a:r>
              <a:rPr lang="ru-RU" dirty="0">
                <a:solidFill>
                  <a:schemeClr val="accent5"/>
                </a:solidFill>
              </a:rPr>
              <a:t> / </a:t>
            </a:r>
            <a:r>
              <a:rPr lang="ru-RU" dirty="0" err="1">
                <a:solidFill>
                  <a:schemeClr val="accent5"/>
                </a:solidFill>
              </a:rPr>
              <a:t>PyTorch</a:t>
            </a:r>
            <a:r>
              <a:rPr lang="ru-RU" dirty="0">
                <a:solidFill>
                  <a:schemeClr val="accent5"/>
                </a:solidFill>
              </a:rPr>
              <a:t> / </a:t>
            </a:r>
            <a:r>
              <a:rPr lang="ru-RU" dirty="0" err="1">
                <a:solidFill>
                  <a:schemeClr val="accent5"/>
                </a:solidFill>
              </a:rPr>
              <a:t>Hugging</a:t>
            </a:r>
            <a:r>
              <a:rPr lang="ru-RU" dirty="0">
                <a:solidFill>
                  <a:schemeClr val="accent5"/>
                </a:solidFill>
              </a:rPr>
              <a:t> Face, </a:t>
            </a:r>
            <a:r>
              <a:rPr lang="ru-RU" dirty="0" err="1">
                <a:solidFill>
                  <a:schemeClr val="accent5"/>
                </a:solidFill>
              </a:rPr>
              <a:t>FastAPI</a:t>
            </a:r>
            <a:r>
              <a:rPr lang="ru-RU" dirty="0">
                <a:solidFill>
                  <a:schemeClr val="accent5"/>
                </a:solidFill>
              </a:rPr>
              <a:t>, </a:t>
            </a:r>
            <a:r>
              <a:rPr lang="ru-RU" dirty="0" err="1">
                <a:solidFill>
                  <a:schemeClr val="accent5"/>
                </a:solidFill>
              </a:rPr>
              <a:t>React</a:t>
            </a:r>
            <a:r>
              <a:rPr lang="ru-RU" dirty="0">
                <a:solidFill>
                  <a:schemeClr val="accent5"/>
                </a:solidFill>
              </a:rPr>
              <a:t> / </a:t>
            </a:r>
            <a:r>
              <a:rPr lang="ru-RU" dirty="0" err="1">
                <a:solidFill>
                  <a:schemeClr val="accent5"/>
                </a:solidFill>
              </a:rPr>
              <a:t>Streamlit</a:t>
            </a:r>
            <a:r>
              <a:rPr lang="ru-RU" dirty="0">
                <a:solidFill>
                  <a:schemeClr val="accent5"/>
                </a:solidFill>
              </a:rPr>
              <a:t>, </a:t>
            </a:r>
            <a:r>
              <a:rPr lang="ru-RU" dirty="0" err="1">
                <a:solidFill>
                  <a:schemeClr val="accent5"/>
                </a:solidFill>
              </a:rPr>
              <a:t>Docker</a:t>
            </a:r>
            <a:r>
              <a:rPr lang="ru-RU" dirty="0">
                <a:solidFill>
                  <a:schemeClr val="accent5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accent5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accent5"/>
                </a:solidFill>
              </a:rPr>
              <a:t>Ключевое: LLM — аналитические движки, решение принимает собственный </a:t>
            </a:r>
            <a:r>
              <a:rPr lang="ru-RU" dirty="0" err="1">
                <a:solidFill>
                  <a:schemeClr val="accent5"/>
                </a:solidFill>
              </a:rPr>
              <a:t>Signal</a:t>
            </a:r>
            <a:r>
              <a:rPr lang="ru-RU" dirty="0">
                <a:solidFill>
                  <a:schemeClr val="accent5"/>
                </a:solidFill>
              </a:rPr>
              <a:t> Engine. Модель интерпретируема: система показывает, по каким признакам наблюдение отнесено к слабому сигналу.</a:t>
            </a:r>
            <a:endParaRPr dirty="0">
              <a:solidFill>
                <a:schemeClr val="accent5"/>
              </a:solidFill>
            </a:endParaRPr>
          </a:p>
        </p:txBody>
      </p:sp>
      <p:sp>
        <p:nvSpPr>
          <p:cNvPr id="253370626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sz="1400" dirty="0">
                <a:solidFill>
                  <a:schemeClr val="accent5"/>
                </a:solidFill>
              </a:rPr>
              <a:t>Продукт для банка и его корпоративных клиентов с активной ВЭД (особенно с Китаем и Азией). Позиционирование: AI </a:t>
            </a:r>
            <a:r>
              <a:rPr lang="ru-RU" sz="1400" dirty="0" err="1">
                <a:solidFill>
                  <a:schemeClr val="accent5"/>
                </a:solidFill>
              </a:rPr>
              <a:t>Decision</a:t>
            </a:r>
            <a:r>
              <a:rPr lang="ru-RU" sz="1400" dirty="0">
                <a:solidFill>
                  <a:schemeClr val="accent5"/>
                </a:solidFill>
              </a:rPr>
              <a:t> Support System для раннего обнаружения изменений и поиска новых банковских возможностей.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accent5"/>
              </a:solidFill>
            </a:endParaRPr>
          </a:p>
          <a:p>
            <a:pPr marL="0" indent="0">
              <a:buNone/>
              <a:defRPr/>
            </a:pPr>
            <a:r>
              <a:rPr lang="ru-RU" sz="1400" dirty="0">
                <a:solidFill>
                  <a:schemeClr val="accent5"/>
                </a:solidFill>
              </a:rPr>
              <a:t>Продукты: </a:t>
            </a:r>
            <a:r>
              <a:rPr lang="ru-RU" sz="1400" dirty="0" err="1">
                <a:solidFill>
                  <a:schemeClr val="accent5"/>
                </a:solidFill>
              </a:rPr>
              <a:t>Signal</a:t>
            </a:r>
            <a:r>
              <a:rPr lang="ru-RU" sz="1400" dirty="0">
                <a:solidFill>
                  <a:schemeClr val="accent5"/>
                </a:solidFill>
              </a:rPr>
              <a:t> </a:t>
            </a:r>
            <a:r>
              <a:rPr lang="ru-RU" sz="1400" dirty="0" err="1">
                <a:solidFill>
                  <a:schemeClr val="accent5"/>
                </a:solidFill>
              </a:rPr>
              <a:t>Radar</a:t>
            </a:r>
            <a:r>
              <a:rPr lang="ru-RU" sz="1400" dirty="0">
                <a:solidFill>
                  <a:schemeClr val="accent5"/>
                </a:solidFill>
              </a:rPr>
              <a:t> (</a:t>
            </a:r>
            <a:r>
              <a:rPr lang="ru-RU" sz="1400" dirty="0" err="1">
                <a:solidFill>
                  <a:schemeClr val="accent5"/>
                </a:solidFill>
              </a:rPr>
              <a:t>SaaS</a:t>
            </a:r>
            <a:r>
              <a:rPr lang="ru-RU" sz="1400" dirty="0">
                <a:solidFill>
                  <a:schemeClr val="accent5"/>
                </a:solidFill>
              </a:rPr>
              <a:t>), Industry Intelligence (</a:t>
            </a:r>
            <a:r>
              <a:rPr lang="ru-RU" sz="1400" dirty="0" err="1">
                <a:solidFill>
                  <a:schemeClr val="accent5"/>
                </a:solidFill>
              </a:rPr>
              <a:t>enterprise</a:t>
            </a:r>
            <a:r>
              <a:rPr lang="ru-RU" sz="1400" dirty="0">
                <a:solidFill>
                  <a:schemeClr val="accent5"/>
                </a:solidFill>
              </a:rPr>
              <a:t>), API, Enterprise AI.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accent5"/>
              </a:solidFill>
            </a:endParaRPr>
          </a:p>
          <a:p>
            <a:pPr marL="0" indent="0">
              <a:buNone/>
              <a:defRPr/>
            </a:pPr>
            <a:r>
              <a:rPr lang="ru-RU" sz="1400" dirty="0">
                <a:solidFill>
                  <a:schemeClr val="accent5"/>
                </a:solidFill>
              </a:rPr>
              <a:t>Первый пилот: China Trade </a:t>
            </a:r>
            <a:r>
              <a:rPr lang="ru-RU" sz="1400" dirty="0" err="1">
                <a:solidFill>
                  <a:schemeClr val="accent5"/>
                </a:solidFill>
              </a:rPr>
              <a:t>Radar</a:t>
            </a:r>
            <a:r>
              <a:rPr lang="ru-RU" sz="1400" dirty="0">
                <a:solidFill>
                  <a:schemeClr val="accent5"/>
                </a:solidFill>
              </a:rPr>
              <a:t> — 6–8 недель, мониторинг ВЭД/CNY/логистики/документов, 2–3 корпоративных клиента, измерение Precision, </a:t>
            </a:r>
            <a:r>
              <a:rPr lang="ru-RU" sz="1400" dirty="0" err="1">
                <a:solidFill>
                  <a:schemeClr val="accent5"/>
                </a:solidFill>
              </a:rPr>
              <a:t>Recall</a:t>
            </a:r>
            <a:r>
              <a:rPr lang="ru-RU" sz="1400" dirty="0">
                <a:solidFill>
                  <a:schemeClr val="accent5"/>
                </a:solidFill>
              </a:rPr>
              <a:t>, </a:t>
            </a:r>
            <a:r>
              <a:rPr lang="ru-RU" sz="1400" dirty="0" err="1">
                <a:solidFill>
                  <a:schemeClr val="accent5"/>
                </a:solidFill>
              </a:rPr>
              <a:t>Lead</a:t>
            </a:r>
            <a:r>
              <a:rPr lang="ru-RU" sz="1400" dirty="0">
                <a:solidFill>
                  <a:schemeClr val="accent5"/>
                </a:solidFill>
              </a:rPr>
              <a:t> Time, Time-</a:t>
            </a:r>
            <a:r>
              <a:rPr lang="ru-RU" sz="1400" dirty="0" err="1">
                <a:solidFill>
                  <a:schemeClr val="accent5"/>
                </a:solidFill>
              </a:rPr>
              <a:t>to</a:t>
            </a:r>
            <a:r>
              <a:rPr lang="ru-RU" sz="1400" dirty="0">
                <a:solidFill>
                  <a:schemeClr val="accent5"/>
                </a:solidFill>
              </a:rPr>
              <a:t>-Insight.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accent5"/>
              </a:solidFill>
            </a:endParaRPr>
          </a:p>
          <a:p>
            <a:pPr marL="0" indent="0">
              <a:buNone/>
              <a:defRPr/>
            </a:pPr>
            <a:r>
              <a:rPr lang="ru-RU" sz="1400" dirty="0">
                <a:solidFill>
                  <a:schemeClr val="accent5"/>
                </a:solidFill>
              </a:rPr>
              <a:t>Масштабирование: внутренняя валидация → пилот → подтверждение эффекта → промышленная интеграция → другие бизнес-линии и клиентские сегменты.</a:t>
            </a:r>
          </a:p>
        </p:txBody>
      </p:sp>
      <p:sp>
        <p:nvSpPr>
          <p:cNvPr id="51926700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62711248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359319169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028087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3567104" name="Объект 2"/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374544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1"/>
                </a:solidFill>
              </a:rPr>
              <a:t>Что это: </a:t>
            </a:r>
            <a:r>
              <a:rPr lang="ru-RU" sz="1600" dirty="0">
                <a:solidFill>
                  <a:schemeClr val="tx1"/>
                </a:solidFill>
              </a:rPr>
              <a:t>Сервис для автоматизированного сбора и анализа слабых сигналов в научно-технологических отраслях.</a:t>
            </a:r>
          </a:p>
          <a:p>
            <a:pPr marL="0" indent="0">
              <a:buNone/>
              <a:defRPr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1"/>
                </a:solidFill>
              </a:rPr>
              <a:t>Как работает: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</a:rPr>
              <a:t>Собирает данные из открытых источников: </a:t>
            </a:r>
            <a:r>
              <a:rPr lang="ru-RU" sz="1600" dirty="0" err="1">
                <a:solidFill>
                  <a:schemeClr val="tx1"/>
                </a:solidFill>
              </a:rPr>
              <a:t>регуляторика</a:t>
            </a:r>
            <a:r>
              <a:rPr lang="ru-RU" sz="1600" dirty="0">
                <a:solidFill>
                  <a:schemeClr val="tx1"/>
                </a:solidFill>
              </a:rPr>
              <a:t>, патенты, научные публикации, рыночные данные, ВЭД-статистика, действия компаний, инвестиции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</a:rPr>
              <a:t>Нормализует и обрабатывает через два аналитических контура — </a:t>
            </a:r>
            <a:r>
              <a:rPr lang="ru-RU" sz="1600" dirty="0" err="1">
                <a:solidFill>
                  <a:schemeClr val="tx1"/>
                </a:solidFill>
              </a:rPr>
              <a:t>YandexGPT</a:t>
            </a:r>
            <a:r>
              <a:rPr lang="ru-RU" sz="1600" dirty="0">
                <a:solidFill>
                  <a:schemeClr val="tx1"/>
                </a:solidFill>
              </a:rPr>
              <a:t> и </a:t>
            </a:r>
            <a:r>
              <a:rPr lang="ru-RU" sz="1600" dirty="0" err="1">
                <a:solidFill>
                  <a:schemeClr val="tx1"/>
                </a:solidFill>
              </a:rPr>
              <a:t>GigaChat</a:t>
            </a:r>
            <a:r>
              <a:rPr lang="ru-RU" sz="1600" dirty="0">
                <a:solidFill>
                  <a:schemeClr val="tx1"/>
                </a:solidFill>
              </a:rPr>
              <a:t> (AI </a:t>
            </a:r>
            <a:r>
              <a:rPr lang="ru-RU" sz="1600" dirty="0" err="1">
                <a:solidFill>
                  <a:schemeClr val="tx1"/>
                </a:solidFill>
              </a:rPr>
              <a:t>Consensus</a:t>
            </a:r>
            <a:r>
              <a:rPr lang="ru-RU" sz="1600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</a:rPr>
              <a:t>Собственный </a:t>
            </a:r>
            <a:r>
              <a:rPr lang="ru-RU" sz="1600" dirty="0" err="1">
                <a:solidFill>
                  <a:schemeClr val="tx1"/>
                </a:solidFill>
              </a:rPr>
              <a:t>Signal</a:t>
            </a:r>
            <a:r>
              <a:rPr lang="ru-RU" sz="1600" dirty="0">
                <a:solidFill>
                  <a:schemeClr val="tx1"/>
                </a:solidFill>
              </a:rPr>
              <a:t> Engine выполняет кросс-проверку, скоринг и фильтрацию мейнстрима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</a:rPr>
              <a:t>Формирует ТОП-15 зарождающихся трендов с карточками сигналов</a:t>
            </a:r>
          </a:p>
          <a:p>
            <a:pPr marL="0" indent="0">
              <a:buNone/>
              <a:defRPr/>
            </a:pPr>
            <a:endParaRPr lang="ru-RU" sz="16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1"/>
                </a:solidFill>
              </a:rPr>
              <a:t>Карточка сигнала: </a:t>
            </a:r>
            <a:r>
              <a:rPr lang="ru-RU" sz="1600" dirty="0">
                <a:solidFill>
                  <a:schemeClr val="tx1"/>
                </a:solidFill>
              </a:rPr>
              <a:t>описание технологии, потенциальное преимущество, кейс-пример, источники, </a:t>
            </a:r>
            <a:r>
              <a:rPr lang="ru-RU" sz="1600" dirty="0" err="1">
                <a:solidFill>
                  <a:schemeClr val="tx1"/>
                </a:solidFill>
              </a:rPr>
              <a:t>Confidence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 err="1">
                <a:solidFill>
                  <a:schemeClr val="tx1"/>
                </a:solidFill>
              </a:rPr>
              <a:t>Score</a:t>
            </a:r>
            <a:r>
              <a:rPr lang="ru-RU" sz="1600" dirty="0">
                <a:solidFill>
                  <a:schemeClr val="tx1"/>
                </a:solidFill>
              </a:rPr>
              <a:t>, объяснение отнесения к слабому сигналу.</a:t>
            </a:r>
          </a:p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1"/>
                </a:solidFill>
              </a:rPr>
              <a:t>Пример: </a:t>
            </a:r>
            <a:r>
              <a:rPr lang="ru-RU" sz="1600" dirty="0">
                <a:solidFill>
                  <a:schemeClr val="tx1"/>
                </a:solidFill>
              </a:rPr>
              <a:t>конвергенция изменений регулирования, роста торговли с Китаем, развития расчётов в юанях и цифровых документов → сигнал «Формируется потребность в едином цифровом контуре ВЭД».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87540607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036245156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bg1"/>
                </a:solidFill>
              </a:rPr>
              <a:t>Подробное описание решения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7C11396-AE83-83AB-820B-6389D2AB1C4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028087" name="Скругленный прямоугольник 3">
            <a:extLst>
              <a:ext uri="{FF2B5EF4-FFF2-40B4-BE49-F238E27FC236}">
                <a16:creationId xmlns:a16="http://schemas.microsoft.com/office/drawing/2014/main" id="{7741460C-8C38-14A6-34EE-529FA9D2CD53}"/>
              </a:ext>
            </a:extLst>
          </p:cNvPr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3567104" name="Объект 2">
            <a:extLst>
              <a:ext uri="{FF2B5EF4-FFF2-40B4-BE49-F238E27FC236}">
                <a16:creationId xmlns:a16="http://schemas.microsoft.com/office/drawing/2014/main" id="{69B7CB7C-FF1C-A91D-FD00-29D83F57FDE7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37454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ru-RU" sz="1600" dirty="0">
                <a:solidFill>
                  <a:schemeClr val="accent5"/>
                </a:solidFill>
              </a:rPr>
              <a:t>На самом деле мы не меняли технологическую основу проекта. Мы начали с задачи обнаружения слабых сигналов и в процессе разработки искали, где этот механизм создаёт максимальную ценность для банка. В Sprint 01 мы реализовали базовый технологический контур: статистические детекторы EWMA и CUSUM плюс семантический гейт на Qwen3. Это дало измеримый </a:t>
            </a:r>
            <a:r>
              <a:rPr lang="ru-RU" sz="1600" dirty="0" err="1">
                <a:solidFill>
                  <a:schemeClr val="accent5"/>
                </a:solidFill>
              </a:rPr>
              <a:t>baseline</a:t>
            </a:r>
            <a:r>
              <a:rPr lang="ru-RU" sz="1600" dirty="0">
                <a:solidFill>
                  <a:schemeClr val="accent5"/>
                </a:solidFill>
              </a:rPr>
              <a:t> — Precision 0,72, </a:t>
            </a:r>
            <a:r>
              <a:rPr lang="ru-RU" sz="1600" dirty="0" err="1">
                <a:solidFill>
                  <a:schemeClr val="accent5"/>
                </a:solidFill>
              </a:rPr>
              <a:t>Recall</a:t>
            </a:r>
            <a:r>
              <a:rPr lang="ru-RU" sz="1600" dirty="0">
                <a:solidFill>
                  <a:schemeClr val="accent5"/>
                </a:solidFill>
              </a:rPr>
              <a:t> 0,72, </a:t>
            </a:r>
            <a:r>
              <a:rPr lang="ru-RU" sz="1600" dirty="0" err="1">
                <a:solidFill>
                  <a:schemeClr val="accent5"/>
                </a:solidFill>
              </a:rPr>
              <a:t>Lead</a:t>
            </a:r>
            <a:r>
              <a:rPr lang="ru-RU" sz="1600" dirty="0">
                <a:solidFill>
                  <a:schemeClr val="accent5"/>
                </a:solidFill>
              </a:rPr>
              <a:t> Time 20 дней.</a:t>
            </a:r>
          </a:p>
          <a:p>
            <a:pPr marL="0" indent="0">
              <a:buNone/>
              <a:defRPr/>
            </a:pPr>
            <a:endParaRPr lang="ru-RU" sz="1600" dirty="0">
              <a:solidFill>
                <a:schemeClr val="accent5"/>
              </a:solidFill>
            </a:endParaRPr>
          </a:p>
          <a:p>
            <a:pPr marL="0" indent="0">
              <a:buNone/>
              <a:defRPr/>
            </a:pPr>
            <a:r>
              <a:rPr lang="ru-RU" sz="1600" dirty="0">
                <a:solidFill>
                  <a:schemeClr val="accent5"/>
                </a:solidFill>
              </a:rPr>
              <a:t>Когда механизм обнаружения заработал, возник следующий вопрос: что делать с сигналом дальше? Так появилась цепочка: слабый сигнал → подтверждение → оценка развития → влияние на бизнес → банковская возможность → продукт. Именно здесь возник банковский контекст. Мы сознательно взяли ВЭД и Китай как прикладной сценарий, потому что здесь пересекается максимум быстро меняющихся факторов: регулирование, расчёты, валюты, логистика, документы, таможня. ВЭД — не новая тема вместо первоначальной, а предметная область, на которой мы проверяем, создаёт ли механизм реальную банковскую ценность.</a:t>
            </a:r>
          </a:p>
          <a:p>
            <a:pPr marL="0" indent="0">
              <a:buNone/>
              <a:defRPr/>
            </a:pPr>
            <a:endParaRPr lang="ru-RU" sz="1600" dirty="0">
              <a:solidFill>
                <a:schemeClr val="accent5"/>
              </a:solidFill>
            </a:endParaRPr>
          </a:p>
          <a:p>
            <a:pPr marL="0" indent="0">
              <a:buNone/>
              <a:defRPr/>
            </a:pPr>
            <a:r>
              <a:rPr lang="ru-RU" sz="1600" dirty="0">
                <a:solidFill>
                  <a:schemeClr val="accent5"/>
                </a:solidFill>
              </a:rPr>
              <a:t>Sprint 01 — это нижний технологический слой, а не финальная система. Следующий уровень — </a:t>
            </a:r>
            <a:r>
              <a:rPr lang="ru-RU" sz="1600" dirty="0" err="1">
                <a:solidFill>
                  <a:schemeClr val="accent5"/>
                </a:solidFill>
              </a:rPr>
              <a:t>YandexGPT</a:t>
            </a:r>
            <a:r>
              <a:rPr lang="ru-RU" sz="1600" dirty="0">
                <a:solidFill>
                  <a:schemeClr val="accent5"/>
                </a:solidFill>
              </a:rPr>
              <a:t> и </a:t>
            </a:r>
            <a:r>
              <a:rPr lang="ru-RU" sz="1600" dirty="0" err="1">
                <a:solidFill>
                  <a:schemeClr val="accent5"/>
                </a:solidFill>
              </a:rPr>
              <a:t>GigaChat</a:t>
            </a:r>
            <a:r>
              <a:rPr lang="ru-RU" sz="1600" dirty="0">
                <a:solidFill>
                  <a:schemeClr val="accent5"/>
                </a:solidFill>
              </a:rPr>
              <a:t>, AI </a:t>
            </a:r>
            <a:r>
              <a:rPr lang="ru-RU" sz="1600" dirty="0" err="1">
                <a:solidFill>
                  <a:schemeClr val="accent5"/>
                </a:solidFill>
              </a:rPr>
              <a:t>Consensus</a:t>
            </a:r>
            <a:r>
              <a:rPr lang="ru-RU" sz="1600" dirty="0">
                <a:solidFill>
                  <a:schemeClr val="accent5"/>
                </a:solidFill>
              </a:rPr>
              <a:t>, </a:t>
            </a:r>
            <a:r>
              <a:rPr lang="ru-RU" sz="1600" dirty="0" err="1">
                <a:solidFill>
                  <a:schemeClr val="accent5"/>
                </a:solidFill>
              </a:rPr>
              <a:t>Signal</a:t>
            </a:r>
            <a:r>
              <a:rPr lang="ru-RU" sz="1600" dirty="0">
                <a:solidFill>
                  <a:schemeClr val="accent5"/>
                </a:solidFill>
              </a:rPr>
              <a:t> Engine, </a:t>
            </a:r>
            <a:r>
              <a:rPr lang="ru-RU" sz="1600" dirty="0" err="1">
                <a:solidFill>
                  <a:schemeClr val="accent5"/>
                </a:solidFill>
              </a:rPr>
              <a:t>Confidence</a:t>
            </a:r>
            <a:r>
              <a:rPr lang="ru-RU" sz="1600" dirty="0">
                <a:solidFill>
                  <a:schemeClr val="accent5"/>
                </a:solidFill>
              </a:rPr>
              <a:t> </a:t>
            </a:r>
            <a:r>
              <a:rPr lang="ru-RU" sz="1600" dirty="0" err="1">
                <a:solidFill>
                  <a:schemeClr val="accent5"/>
                </a:solidFill>
              </a:rPr>
              <a:t>Score</a:t>
            </a:r>
            <a:r>
              <a:rPr lang="ru-RU" sz="1600" dirty="0">
                <a:solidFill>
                  <a:schemeClr val="accent5"/>
                </a:solidFill>
              </a:rPr>
              <a:t>, карточки сигналов и продуктовая рекомендация. Мы не ушли от исходной темы — мы прошли путь от технологической гипотезы к её прикладному применению. Обнаружить → понять → подтвердить → спрогнозировать → применить. Именно переход от обнаружения тренда к принятию решения на его основе и есть развитие проекта.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87540607" name="Номер слайда 20">
            <a:extLst>
              <a:ext uri="{FF2B5EF4-FFF2-40B4-BE49-F238E27FC236}">
                <a16:creationId xmlns:a16="http://schemas.microsoft.com/office/drawing/2014/main" id="{147F54D3-BE79-DF2F-A0E2-F3BB52C05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7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036245156" name="Заголовок 1">
            <a:extLst>
              <a:ext uri="{FF2B5EF4-FFF2-40B4-BE49-F238E27FC236}">
                <a16:creationId xmlns:a16="http://schemas.microsoft.com/office/drawing/2014/main" id="{F80B19B9-A915-BB0A-B188-178F10DEE84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r>
              <a:rPr lang="ru-RU" dirty="0"/>
              <a:t>От технологической гипотезы к прикладному банковскому решению</a:t>
            </a:r>
          </a:p>
        </p:txBody>
      </p:sp>
    </p:spTree>
    <p:extLst>
      <p:ext uri="{BB962C8B-B14F-4D97-AF65-F5344CB8AC3E}">
        <p14:creationId xmlns:p14="http://schemas.microsoft.com/office/powerpoint/2010/main" val="1674097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451823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72724933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360578564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5"/>
                </a:solidFill>
              </a:rPr>
              <a:t>Маркетинговая часть решения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A4E5DC-1BCF-F2B4-ABD4-82CEA537FA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-3632" r="1087" b="683"/>
          <a:stretch>
            <a:fillRect/>
          </a:stretch>
        </p:blipFill>
        <p:spPr bwMode="auto">
          <a:xfrm>
            <a:off x="7098889" y="1462548"/>
            <a:ext cx="4060723" cy="3932903"/>
          </a:xfrm>
          <a:prstGeom prst="rect">
            <a:avLst/>
          </a:prstGeom>
        </p:spPr>
      </p:pic>
      <p:sp>
        <p:nvSpPr>
          <p:cNvPr id="1560441972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Целевая аудитория: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ru-RU" dirty="0">
                <a:solidFill>
                  <a:schemeClr val="tx1"/>
                </a:solidFill>
              </a:rPr>
              <a:t>Внутренние: ЛЦТ, стратегия, ВЭД / Trade Finance, продуктовые команды, риск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ru-RU" dirty="0">
                <a:solidFill>
                  <a:schemeClr val="tx1"/>
                </a:solidFill>
              </a:rPr>
              <a:t>Внешние (ICP): крупные импортёры из Китая, экспортёры в Азию, холдинги с большим объёмом ВЭД, компании с CNY-расчётами</a:t>
            </a:r>
          </a:p>
          <a:p>
            <a:pPr marL="0" indent="0"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Позиционирование: </a:t>
            </a:r>
            <a:r>
              <a:rPr lang="ru-RU" dirty="0">
                <a:solidFill>
                  <a:schemeClr val="tx1"/>
                </a:solidFill>
              </a:rPr>
              <a:t>AI </a:t>
            </a:r>
            <a:r>
              <a:rPr lang="ru-RU" dirty="0" err="1">
                <a:solidFill>
                  <a:schemeClr val="tx1"/>
                </a:solidFill>
              </a:rPr>
              <a:t>Decision</a:t>
            </a:r>
            <a:r>
              <a:rPr lang="ru-RU" dirty="0">
                <a:solidFill>
                  <a:schemeClr val="tx1"/>
                </a:solidFill>
              </a:rPr>
              <a:t> Support System для раннего обнаружения изменений и поиска новых банковских возможностей.</a:t>
            </a:r>
          </a:p>
          <a:p>
            <a:pPr marL="0" indent="0"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Ключевой принцип: </a:t>
            </a:r>
            <a:r>
              <a:rPr lang="ru-RU" dirty="0">
                <a:solidFill>
                  <a:schemeClr val="tx1"/>
                </a:solidFill>
              </a:rPr>
              <a:t>не продавать «нейросеть» или абстрактный прогноз. Продавать сокращение времени от появления изменения до понимания его влияния на бизнес и принятия решения.</a:t>
            </a:r>
          </a:p>
          <a:p>
            <a:pPr marL="0" indent="0"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Коммерческие продукты: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ru-RU" dirty="0" err="1">
                <a:solidFill>
                  <a:schemeClr val="tx1"/>
                </a:solidFill>
              </a:rPr>
              <a:t>Signal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Radar</a:t>
            </a:r>
            <a:r>
              <a:rPr lang="ru-RU" dirty="0">
                <a:solidFill>
                  <a:schemeClr val="tx1"/>
                </a:solidFill>
              </a:rPr>
              <a:t> — </a:t>
            </a:r>
            <a:r>
              <a:rPr lang="ru-RU" dirty="0" err="1">
                <a:solidFill>
                  <a:schemeClr val="tx1"/>
                </a:solidFill>
              </a:rPr>
              <a:t>SaaS</a:t>
            </a:r>
            <a:r>
              <a:rPr lang="ru-RU" dirty="0">
                <a:solidFill>
                  <a:schemeClr val="tx1"/>
                </a:solidFill>
              </a:rPr>
              <a:t> / подписка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ru-RU" dirty="0">
                <a:solidFill>
                  <a:schemeClr val="tx1"/>
                </a:solidFill>
              </a:rPr>
              <a:t>Industry Intelligence — годовая </a:t>
            </a:r>
            <a:r>
              <a:rPr lang="ru-RU" dirty="0" err="1">
                <a:solidFill>
                  <a:schemeClr val="tx1"/>
                </a:solidFill>
              </a:rPr>
              <a:t>enterprise</a:t>
            </a:r>
            <a:r>
              <a:rPr lang="ru-RU" dirty="0">
                <a:solidFill>
                  <a:schemeClr val="tx1"/>
                </a:solidFill>
              </a:rPr>
              <a:t>-лицензия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ru-RU" dirty="0">
                <a:solidFill>
                  <a:schemeClr val="tx1"/>
                </a:solidFill>
              </a:rPr>
              <a:t>API — </a:t>
            </a:r>
            <a:r>
              <a:rPr lang="ru-RU" dirty="0" err="1">
                <a:solidFill>
                  <a:schemeClr val="tx1"/>
                </a:solidFill>
              </a:rPr>
              <a:t>usage-based</a:t>
            </a:r>
            <a:endParaRPr lang="ru-RU" dirty="0">
              <a:solidFill>
                <a:schemeClr val="tx1"/>
              </a:solidFill>
            </a:endParaRP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ru-RU" dirty="0">
                <a:solidFill>
                  <a:schemeClr val="tx1"/>
                </a:solidFill>
              </a:rPr>
              <a:t>Enterprise AI — проект + годовая лицензия</a:t>
            </a:r>
          </a:p>
          <a:p>
            <a:pPr marL="0" indent="0">
              <a:buNone/>
              <a:defRPr/>
            </a:pPr>
            <a:br>
              <a:rPr lang="ru-RU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931467" name="Скругленный прямоугольник 9"/>
          <p:cNvSpPr/>
          <p:nvPr/>
        </p:nvSpPr>
        <p:spPr bwMode="auto">
          <a:xfrm>
            <a:off x="346074" y="324562"/>
            <a:ext cx="486502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19579461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9406535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78996555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080066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6655186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13837281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 sz="1200" dirty="0">
                <a:solidFill>
                  <a:srgbClr val="F92571"/>
                </a:solidFill>
              </a:rPr>
              <a:t>Оффер для первого клиента — China Trade </a:t>
            </a:r>
            <a:r>
              <a:rPr lang="ru-RU" sz="1200" dirty="0" err="1">
                <a:solidFill>
                  <a:srgbClr val="F92571"/>
                </a:solidFill>
              </a:rPr>
              <a:t>Radar</a:t>
            </a:r>
            <a:endParaRPr lang="ru-RU" sz="1200" dirty="0">
              <a:solidFill>
                <a:srgbClr val="F92571"/>
              </a:solidFill>
            </a:endParaRPr>
          </a:p>
        </p:txBody>
      </p:sp>
      <p:sp>
        <p:nvSpPr>
          <p:cNvPr id="84190864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Закрытый пилот 6–8 недель. Мониторинг ВЭД / CNY / логистики / документов, двойная AI-аналитика, карточки сигналов, еженедельный отчёт, финальный отчёт с бизнес-действиями.</a:t>
            </a:r>
          </a:p>
        </p:txBody>
      </p:sp>
      <p:sp>
        <p:nvSpPr>
          <p:cNvPr id="1576236125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Метрики успеха</a:t>
            </a:r>
          </a:p>
        </p:txBody>
      </p:sp>
      <p:sp>
        <p:nvSpPr>
          <p:cNvPr id="561300391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  <a:defRPr/>
            </a:pPr>
            <a:r>
              <a:rPr lang="en-US" dirty="0">
                <a:solidFill>
                  <a:schemeClr val="tx1"/>
                </a:solidFill>
              </a:rPr>
              <a:t>Precision &gt;75–80%, Recall &gt;70%, F1 &gt;75%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n-US" dirty="0">
                <a:solidFill>
                  <a:schemeClr val="tx1"/>
                </a:solidFill>
              </a:rPr>
              <a:t>Lead Time &gt;2 </a:t>
            </a:r>
            <a:r>
              <a:rPr lang="ru-RU" dirty="0">
                <a:solidFill>
                  <a:schemeClr val="tx1"/>
                </a:solidFill>
              </a:rPr>
              <a:t>недель, </a:t>
            </a:r>
            <a:r>
              <a:rPr lang="en-US" dirty="0">
                <a:solidFill>
                  <a:schemeClr val="tx1"/>
                </a:solidFill>
              </a:rPr>
              <a:t>Time-to-Insight &lt;24 </a:t>
            </a:r>
            <a:r>
              <a:rPr lang="ru-RU" dirty="0">
                <a:solidFill>
                  <a:schemeClr val="tx1"/>
                </a:solidFill>
              </a:rPr>
              <a:t>часов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ru-RU" dirty="0">
                <a:solidFill>
                  <a:schemeClr val="tx1"/>
                </a:solidFill>
              </a:rPr>
              <a:t>Экономия времени аналитиков &gt;50%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n-US" dirty="0">
                <a:solidFill>
                  <a:schemeClr val="tx1"/>
                </a:solidFill>
              </a:rPr>
              <a:t>ROI </a:t>
            </a:r>
            <a:r>
              <a:rPr lang="ru-RU" dirty="0">
                <a:solidFill>
                  <a:schemeClr val="tx1"/>
                </a:solidFill>
              </a:rPr>
              <a:t>пилота &gt;100%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14749442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Бюджет пилота</a:t>
            </a:r>
          </a:p>
        </p:txBody>
      </p:sp>
      <p:sp>
        <p:nvSpPr>
          <p:cNvPr id="555672967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2,75 – 5,65 млн ₽ (включая ИБ, инфраструктуру, управление проектом).</a:t>
            </a:r>
          </a:p>
        </p:txBody>
      </p:sp>
      <p:sp>
        <p:nvSpPr>
          <p:cNvPr id="1960150560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План на 90 дней и ключевые риски</a:t>
            </a:r>
          </a:p>
        </p:txBody>
      </p:sp>
      <p:sp>
        <p:nvSpPr>
          <p:cNvPr id="1328268494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6 этапов от таксономии сигналов до решения о платном пилоте.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b="1" dirty="0">
                <a:solidFill>
                  <a:schemeClr val="tx1"/>
                </a:solidFill>
              </a:rPr>
              <a:t>Ключевые риски: </a:t>
            </a:r>
            <a:r>
              <a:rPr lang="ru-RU" dirty="0">
                <a:solidFill>
                  <a:schemeClr val="tx1"/>
                </a:solidFill>
              </a:rPr>
              <a:t>стоимость токенов LLM, качество китайских источников, согласование с ИБ, галлюцинации моделей — все с </a:t>
            </a:r>
            <a:r>
              <a:rPr lang="ru-RU" dirty="0" err="1">
                <a:solidFill>
                  <a:schemeClr val="tx1"/>
                </a:solidFill>
              </a:rPr>
              <a:t>митигацией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5286446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Бизнес-составляющая решения</a:t>
            </a:r>
          </a:p>
        </p:txBody>
      </p:sp>
      <p:sp>
        <p:nvSpPr>
          <p:cNvPr id="1805298107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360556183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629892096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83808645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077929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09888734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64566830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73436536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682213100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F92571"/>
                </a:solidFill>
              </a:rPr>
              <a:t>Стек</a:t>
            </a:r>
          </a:p>
        </p:txBody>
      </p:sp>
      <p:sp>
        <p:nvSpPr>
          <p:cNvPr id="1649650411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Python 3.8+, PostgreSQL</a:t>
            </a:r>
          </a:p>
          <a:p>
            <a:pPr marL="0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Scikit-learn, </a:t>
            </a:r>
            <a:r>
              <a:rPr lang="en-US" dirty="0" err="1">
                <a:solidFill>
                  <a:schemeClr val="tx1"/>
                </a:solidFill>
              </a:rPr>
              <a:t>PyTorch</a:t>
            </a:r>
            <a:r>
              <a:rPr lang="en-US" dirty="0">
                <a:solidFill>
                  <a:schemeClr val="tx1"/>
                </a:solidFill>
              </a:rPr>
              <a:t>, TensorFlow, Hugging Face Transformers</a:t>
            </a:r>
          </a:p>
          <a:p>
            <a:pPr marL="0" indent="0">
              <a:buNone/>
              <a:defRPr/>
            </a:pPr>
            <a:r>
              <a:rPr lang="en-US" dirty="0" err="1">
                <a:solidFill>
                  <a:schemeClr val="tx1"/>
                </a:solidFill>
              </a:rPr>
              <a:t>YandexGPT</a:t>
            </a:r>
            <a:r>
              <a:rPr lang="en-US" dirty="0">
                <a:solidFill>
                  <a:schemeClr val="tx1"/>
                </a:solidFill>
              </a:rPr>
              <a:t> Lite 5 / Pro 5/5.1, </a:t>
            </a:r>
            <a:r>
              <a:rPr lang="en-US" dirty="0" err="1">
                <a:solidFill>
                  <a:schemeClr val="tx1"/>
                </a:solidFill>
              </a:rPr>
              <a:t>GigaChat</a:t>
            </a:r>
            <a:r>
              <a:rPr lang="en-US" dirty="0">
                <a:solidFill>
                  <a:schemeClr val="tx1"/>
                </a:solidFill>
              </a:rPr>
              <a:t> 2 Lite/Pro/Max</a:t>
            </a:r>
          </a:p>
          <a:p>
            <a:pPr marL="0" indent="0">
              <a:buNone/>
              <a:defRPr/>
            </a:pPr>
            <a:r>
              <a:rPr lang="en-US" dirty="0" err="1">
                <a:solidFill>
                  <a:schemeClr val="tx1"/>
                </a:solidFill>
              </a:rPr>
              <a:t>FastAPI</a:t>
            </a:r>
            <a:r>
              <a:rPr lang="en-US" dirty="0">
                <a:solidFill>
                  <a:schemeClr val="tx1"/>
                </a:solidFill>
              </a:rPr>
              <a:t> / Django, React / </a:t>
            </a:r>
            <a:r>
              <a:rPr lang="en-US" dirty="0" err="1">
                <a:solidFill>
                  <a:schemeClr val="tx1"/>
                </a:solidFill>
              </a:rPr>
              <a:t>Streamlit</a:t>
            </a:r>
            <a:r>
              <a:rPr lang="en-US" dirty="0">
                <a:solidFill>
                  <a:schemeClr val="tx1"/>
                </a:solidFill>
              </a:rPr>
              <a:t>, Docker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71343729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>
              <a:defRPr/>
            </a:pPr>
            <a:r>
              <a:rPr lang="ru-RU" sz="1800" dirty="0" err="1">
                <a:solidFill>
                  <a:srgbClr val="F92571"/>
                </a:solidFill>
              </a:rPr>
              <a:t>Пайплайн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88302978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Источники → Парсинг → Очистка → Нормализация → </a:t>
            </a:r>
            <a:r>
              <a:rPr lang="en-US" dirty="0">
                <a:solidFill>
                  <a:schemeClr val="tx1"/>
                </a:solidFill>
              </a:rPr>
              <a:t>PostgreSQL</a:t>
            </a:r>
          </a:p>
          <a:p>
            <a:pPr marL="0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→ Feature Engineering → </a:t>
            </a:r>
            <a:r>
              <a:rPr lang="ru-RU" dirty="0">
                <a:solidFill>
                  <a:schemeClr val="tx1"/>
                </a:solidFill>
              </a:rPr>
              <a:t>Обучение модели → Валидация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→ Инференс / Скоринг → Фильтрация мейнстрима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→ Генерация гипотезы → </a:t>
            </a:r>
            <a:r>
              <a:rPr lang="en-US" dirty="0">
                <a:solidFill>
                  <a:schemeClr val="tx1"/>
                </a:solidFill>
              </a:rPr>
              <a:t>Web UI </a:t>
            </a:r>
            <a:r>
              <a:rPr lang="ru-RU" dirty="0">
                <a:solidFill>
                  <a:schemeClr val="tx1"/>
                </a:solidFill>
              </a:rPr>
              <a:t>Дашборд</a:t>
            </a:r>
          </a:p>
        </p:txBody>
      </p:sp>
      <p:sp>
        <p:nvSpPr>
          <p:cNvPr id="320013304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>
              <a:defRPr/>
            </a:pPr>
            <a:r>
              <a:rPr lang="ru-RU" sz="1800" dirty="0">
                <a:solidFill>
                  <a:srgbClr val="F92571"/>
                </a:solidFill>
              </a:rPr>
              <a:t>Интерпретируемость</a:t>
            </a:r>
          </a:p>
        </p:txBody>
      </p:sp>
      <p:sp>
        <p:nvSpPr>
          <p:cNvPr id="296511818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ключевые предикторы — количество независимых источников, уровень доверенности, согласованность моделей, динамика, новизна, горизонт. Система объясняет, почему сигнал признан слабым.</a:t>
            </a:r>
          </a:p>
        </p:txBody>
      </p:sp>
      <p:sp>
        <p:nvSpPr>
          <p:cNvPr id="138245973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5"/>
                </a:solidFill>
              </a:rPr>
              <a:t>Техническая проработка решения</a:t>
            </a:r>
          </a:p>
        </p:txBody>
      </p:sp>
      <p:sp>
        <p:nvSpPr>
          <p:cNvPr id="238216880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1457874370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1633524516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17787" name="Скругленный прямоугольник 1"/>
          <p:cNvSpPr/>
          <p:nvPr/>
        </p:nvSpPr>
        <p:spPr bwMode="auto">
          <a:xfrm>
            <a:off x="346075" y="324562"/>
            <a:ext cx="3760704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39103209" name="Скругленный прямоугольник 16"/>
          <p:cNvSpPr/>
          <p:nvPr/>
        </p:nvSpPr>
        <p:spPr bwMode="auto">
          <a:xfrm>
            <a:off x="6013449" y="1366422"/>
            <a:ext cx="5843588" cy="1170301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30870874" name="Скругленный прямоугольник 17"/>
          <p:cNvSpPr/>
          <p:nvPr/>
        </p:nvSpPr>
        <p:spPr bwMode="auto">
          <a:xfrm>
            <a:off x="6013449" y="3133431"/>
            <a:ext cx="5905293" cy="909854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25927386" name="Скругленный прямоугольник 18"/>
          <p:cNvSpPr/>
          <p:nvPr/>
        </p:nvSpPr>
        <p:spPr bwMode="auto">
          <a:xfrm>
            <a:off x="6013449" y="4884664"/>
            <a:ext cx="5905293" cy="986746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3729470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28916724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73770" y="3031336"/>
            <a:ext cx="4734174" cy="1504523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defRPr/>
            </a:pPr>
            <a:r>
              <a:rPr lang="ru-RU" sz="3600" b="1" dirty="0">
                <a:solidFill>
                  <a:schemeClr val="accent3"/>
                </a:solidFill>
              </a:rPr>
              <a:t>Формула: </a:t>
            </a:r>
          </a:p>
          <a:p>
            <a:pPr algn="l">
              <a:defRPr/>
            </a:pPr>
            <a:r>
              <a:rPr lang="ru-RU" sz="1400" b="1" dirty="0">
                <a:solidFill>
                  <a:schemeClr val="accent5"/>
                </a:solidFill>
              </a:rPr>
              <a:t>Данные → Слабый сигнал → Подтверждение → Прогноз → Влияние → Банковская возможность → Продукт</a:t>
            </a:r>
          </a:p>
        </p:txBody>
      </p:sp>
      <p:sp>
        <p:nvSpPr>
          <p:cNvPr id="1709132149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defRPr/>
            </a:pPr>
            <a:r>
              <a:rPr lang="ru-RU" sz="1100" b="1" dirty="0">
                <a:solidFill>
                  <a:schemeClr val="tx1"/>
                </a:solidFill>
              </a:rPr>
              <a:t>1. AI </a:t>
            </a:r>
            <a:r>
              <a:rPr lang="ru-RU" sz="1100" b="1" dirty="0" err="1">
                <a:solidFill>
                  <a:schemeClr val="tx1"/>
                </a:solidFill>
              </a:rPr>
              <a:t>Consensus</a:t>
            </a:r>
            <a:r>
              <a:rPr lang="ru-RU" sz="1100" b="1" dirty="0">
                <a:solidFill>
                  <a:schemeClr val="tx1"/>
                </a:solidFill>
              </a:rPr>
              <a:t> + </a:t>
            </a:r>
            <a:r>
              <a:rPr lang="ru-RU" sz="1100" b="1" dirty="0" err="1">
                <a:solidFill>
                  <a:schemeClr val="tx1"/>
                </a:solidFill>
              </a:rPr>
              <a:t>Signal</a:t>
            </a:r>
            <a:r>
              <a:rPr lang="ru-RU" sz="1100" b="1" dirty="0">
                <a:solidFill>
                  <a:schemeClr val="tx1"/>
                </a:solidFill>
              </a:rPr>
              <a:t> Engine.</a:t>
            </a:r>
          </a:p>
          <a:p>
            <a:pPr>
              <a:defRPr/>
            </a:pPr>
            <a:r>
              <a:rPr lang="ru-RU" sz="1100" dirty="0">
                <a:solidFill>
                  <a:schemeClr val="tx1"/>
                </a:solidFill>
              </a:rPr>
              <a:t>Две модели (</a:t>
            </a:r>
            <a:r>
              <a:rPr lang="ru-RU" sz="1100" dirty="0" err="1">
                <a:solidFill>
                  <a:schemeClr val="tx1"/>
                </a:solidFill>
              </a:rPr>
              <a:t>YandexGPT</a:t>
            </a:r>
            <a:r>
              <a:rPr lang="ru-RU" sz="1100" dirty="0">
                <a:solidFill>
                  <a:schemeClr val="tx1"/>
                </a:solidFill>
              </a:rPr>
              <a:t> и </a:t>
            </a:r>
            <a:r>
              <a:rPr lang="ru-RU" sz="1100" dirty="0" err="1">
                <a:solidFill>
                  <a:schemeClr val="tx1"/>
                </a:solidFill>
              </a:rPr>
              <a:t>GigaChat</a:t>
            </a:r>
            <a:r>
              <a:rPr lang="ru-RU" sz="1100" dirty="0">
                <a:solidFill>
                  <a:schemeClr val="tx1"/>
                </a:solidFill>
              </a:rPr>
              <a:t>) независимо анализируют данные и проверяют друг друга, а расхождения </a:t>
            </a:r>
            <a:r>
              <a:rPr lang="ru-RU" sz="1100" dirty="0" err="1">
                <a:solidFill>
                  <a:schemeClr val="tx1"/>
                </a:solidFill>
              </a:rPr>
              <a:t>эскалируются</a:t>
            </a:r>
            <a:r>
              <a:rPr lang="ru-RU" sz="1100" dirty="0">
                <a:solidFill>
                  <a:schemeClr val="tx1"/>
                </a:solidFill>
              </a:rPr>
              <a:t> эксперту. При этом бизнес-логика, скоринг и кросс-проверка остаются в собственном </a:t>
            </a:r>
            <a:r>
              <a:rPr lang="ru-RU" sz="1100" dirty="0" err="1">
                <a:solidFill>
                  <a:schemeClr val="tx1"/>
                </a:solidFill>
              </a:rPr>
              <a:t>Signal</a:t>
            </a:r>
            <a:r>
              <a:rPr lang="ru-RU" sz="1100" dirty="0">
                <a:solidFill>
                  <a:schemeClr val="tx1"/>
                </a:solidFill>
              </a:rPr>
              <a:t> Engine — LLM не принимают решения, а работают как аналитические движки.</a:t>
            </a:r>
          </a:p>
        </p:txBody>
      </p:sp>
      <p:sp>
        <p:nvSpPr>
          <p:cNvPr id="1310991449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205008" y="3236626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defRPr/>
            </a:pPr>
            <a:r>
              <a:rPr lang="ru-RU" sz="1100" b="1" dirty="0">
                <a:solidFill>
                  <a:schemeClr val="tx1"/>
                </a:solidFill>
              </a:rPr>
              <a:t>2. Интерпретируемость и фильтрация мейнстрима.</a:t>
            </a:r>
          </a:p>
          <a:p>
            <a:pPr>
              <a:defRPr/>
            </a:pPr>
            <a:r>
              <a:rPr lang="ru-RU" sz="1100" dirty="0">
                <a:solidFill>
                  <a:schemeClr val="tx1"/>
                </a:solidFill>
              </a:rPr>
              <a:t>Система объясняет, по каким признакам наблюдение отнесено к слабому сигналу, и явно отсекает зрелые тренды, отраслевые стандарты, массовые технологии и маркетинговый хайп.</a:t>
            </a:r>
          </a:p>
        </p:txBody>
      </p:sp>
      <p:sp>
        <p:nvSpPr>
          <p:cNvPr id="905538494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07643" y="498044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defRPr/>
            </a:pPr>
            <a:r>
              <a:rPr lang="ru-RU" sz="1100" b="1" dirty="0">
                <a:solidFill>
                  <a:schemeClr val="tx1"/>
                </a:solidFill>
              </a:rPr>
              <a:t>3. От сигнала к продукту и работа на опережение.</a:t>
            </a:r>
          </a:p>
          <a:p>
            <a:pPr>
              <a:defRPr/>
            </a:pPr>
            <a:r>
              <a:rPr lang="ru-RU" sz="1100" dirty="0">
                <a:solidFill>
                  <a:schemeClr val="tx1"/>
                </a:solidFill>
              </a:rPr>
              <a:t>Сервис отвечает не «что произошло», а «что это меняет для банка», превращая сигнал в банковскую возможность и продуктовую гипотезу. При этом он обнаруживает конвергенцию разрозненных сигналов до того, как они станут очевидным трендом.</a:t>
            </a:r>
          </a:p>
        </p:txBody>
      </p:sp>
      <p:sp>
        <p:nvSpPr>
          <p:cNvPr id="1316551490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01728019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Уникальность решения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121735" name="Скругленный прямоугольник 11"/>
          <p:cNvSpPr/>
          <p:nvPr/>
        </p:nvSpPr>
        <p:spPr bwMode="auto">
          <a:xfrm>
            <a:off x="346074" y="324562"/>
            <a:ext cx="539145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913791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999719370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1250643" y="1488199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accent5"/>
                </a:solidFill>
              </a:rPr>
              <a:t>Пилот</a:t>
            </a:r>
          </a:p>
        </p:txBody>
      </p:sp>
      <p:sp>
        <p:nvSpPr>
          <p:cNvPr id="246067144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1250643" y="1844201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6-8 недель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Валидация на 20–50 источниках, 2–3 клиентах</a:t>
            </a:r>
          </a:p>
        </p:txBody>
      </p:sp>
      <p:sp>
        <p:nvSpPr>
          <p:cNvPr id="1019967320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5737528" y="1488199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en-US" b="0" dirty="0">
                <a:solidFill>
                  <a:schemeClr val="accent5"/>
                </a:solidFill>
              </a:rPr>
              <a:t>Enterprise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200445190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5737528" y="1844201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6-12 </a:t>
            </a:r>
            <a:r>
              <a:rPr lang="ru-RU" dirty="0">
                <a:solidFill>
                  <a:schemeClr val="tx1"/>
                </a:solidFill>
              </a:rPr>
              <a:t>месяцев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Интеграция в контур Газпромбанка</a:t>
            </a:r>
          </a:p>
        </p:txBody>
      </p:sp>
      <p:sp>
        <p:nvSpPr>
          <p:cNvPr id="1178877639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3498085" y="4855462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en-US" b="0" dirty="0">
                <a:solidFill>
                  <a:schemeClr val="accent5"/>
                </a:solidFill>
              </a:rPr>
              <a:t>MVP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962502490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3498085" y="5211464"/>
            <a:ext cx="2526079" cy="112068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3-4 месяца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Промышленная версия </a:t>
            </a:r>
            <a:r>
              <a:rPr lang="en-US" dirty="0">
                <a:solidFill>
                  <a:schemeClr val="tx1"/>
                </a:solidFill>
              </a:rPr>
              <a:t>Signal Engine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78375780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984970" y="4855462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en-US" b="0" dirty="0">
                <a:solidFill>
                  <a:schemeClr val="accent5"/>
                </a:solidFill>
              </a:rPr>
              <a:t>API/SaaS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63093234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984970" y="5211464"/>
            <a:ext cx="2526079" cy="1120685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12+ месяцев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Масштабирование на партнёров и корпоративных клиентов</a:t>
            </a:r>
          </a:p>
        </p:txBody>
      </p:sp>
      <p:cxnSp>
        <p:nvCxnSpPr>
          <p:cNvPr id="1291947580" name="Прямая соединительная линия 33"/>
          <p:cNvCxnSpPr/>
          <p:nvPr/>
        </p:nvCxnSpPr>
        <p:spPr bwMode="auto">
          <a:xfrm>
            <a:off x="2970508" y="3890348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1383027" name="Прямая соединительная линия 34"/>
          <p:cNvCxnSpPr/>
          <p:nvPr/>
        </p:nvCxnSpPr>
        <p:spPr bwMode="auto">
          <a:xfrm>
            <a:off x="5216705" y="3892263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3634143" name="Прямая соединительная линия 35"/>
          <p:cNvCxnSpPr/>
          <p:nvPr/>
        </p:nvCxnSpPr>
        <p:spPr bwMode="auto">
          <a:xfrm>
            <a:off x="7462902" y="3892263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5250448" name="Прямая соединительная линия 37"/>
          <p:cNvCxnSpPr/>
          <p:nvPr/>
        </p:nvCxnSpPr>
        <p:spPr bwMode="auto">
          <a:xfrm>
            <a:off x="2513682" y="2964886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988850" name="Прямая соединительная линия 38"/>
          <p:cNvCxnSpPr/>
          <p:nvPr/>
        </p:nvCxnSpPr>
        <p:spPr bwMode="auto">
          <a:xfrm>
            <a:off x="4759880" y="4246352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5233355" name="Прямая соединительная линия 39"/>
          <p:cNvCxnSpPr/>
          <p:nvPr/>
        </p:nvCxnSpPr>
        <p:spPr bwMode="auto">
          <a:xfrm>
            <a:off x="7000568" y="2964886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3534104" name="Прямая соединительная линия 40"/>
          <p:cNvCxnSpPr/>
          <p:nvPr/>
        </p:nvCxnSpPr>
        <p:spPr bwMode="auto">
          <a:xfrm flipH="1">
            <a:off x="9248010" y="4246352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92722" name="Скругленный прямоугольник 42"/>
          <p:cNvSpPr/>
          <p:nvPr/>
        </p:nvSpPr>
        <p:spPr bwMode="auto">
          <a:xfrm>
            <a:off x="2095694" y="3538173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381182205" name="Скругленный прямоугольник 43"/>
          <p:cNvSpPr/>
          <p:nvPr/>
        </p:nvSpPr>
        <p:spPr bwMode="auto">
          <a:xfrm>
            <a:off x="4316965" y="3536260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909249116" name="Скругленный прямоугольник 44"/>
          <p:cNvSpPr/>
          <p:nvPr/>
        </p:nvSpPr>
        <p:spPr bwMode="auto">
          <a:xfrm>
            <a:off x="6563162" y="354637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790847654" name="Скругленный прямоугольник 52"/>
          <p:cNvSpPr/>
          <p:nvPr/>
        </p:nvSpPr>
        <p:spPr bwMode="auto">
          <a:xfrm>
            <a:off x="8794320" y="3536258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10968162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План по дальнейшему развитию</a:t>
            </a:r>
          </a:p>
        </p:txBody>
      </p:sp>
      <p:sp>
        <p:nvSpPr>
          <p:cNvPr id="1997960769" name="Скругленный прямоугольник 13"/>
          <p:cNvSpPr/>
          <p:nvPr/>
        </p:nvSpPr>
        <p:spPr bwMode="auto">
          <a:xfrm>
            <a:off x="1091048" y="1400775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137120955" name="Скругленный прямоугольник 15"/>
          <p:cNvSpPr/>
          <p:nvPr/>
        </p:nvSpPr>
        <p:spPr bwMode="auto">
          <a:xfrm>
            <a:off x="5548748" y="1400775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804261624" name="Скругленный прямоугольник 17"/>
          <p:cNvSpPr/>
          <p:nvPr/>
        </p:nvSpPr>
        <p:spPr bwMode="auto">
          <a:xfrm>
            <a:off x="3376446" y="4855462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3886232" name="Скругленный прямоугольник 18"/>
          <p:cNvSpPr/>
          <p:nvPr/>
        </p:nvSpPr>
        <p:spPr bwMode="auto">
          <a:xfrm>
            <a:off x="7853276" y="4821414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1810</Words>
  <Application>Microsoft Office PowerPoint</Application>
  <PresentationFormat>Широкоэкранный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Montserrat</vt:lpstr>
      <vt:lpstr>Wingdings</vt:lpstr>
      <vt:lpstr>Для Академия инноваторов 16_9</vt:lpstr>
      <vt:lpstr>Звёзды Вселенной</vt:lpstr>
      <vt:lpstr>Звёзды Вселенной</vt:lpstr>
      <vt:lpstr>Звёзды Вселенной</vt:lpstr>
      <vt:lpstr>Звёзды Вселенной</vt:lpstr>
      <vt:lpstr>КОРОТКО О РЕШЕНИИ</vt:lpstr>
      <vt:lpstr>Подробное описание решения</vt:lpstr>
      <vt:lpstr>От технологической гипотезы к прикладному банковскому решению</vt:lpstr>
      <vt:lpstr>Маркетинговая часть решения</vt:lpstr>
      <vt:lpstr>Бизнес-составляющая решения</vt:lpstr>
      <vt:lpstr>Техническая проработка решения</vt:lpstr>
      <vt:lpstr>Уникальность решения</vt:lpstr>
      <vt:lpstr>План по дальнейшему развитию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Исламова Сания Маратовна</cp:lastModifiedBy>
  <cp:revision>99</cp:revision>
  <dcterms:created xsi:type="dcterms:W3CDTF">2023-05-15T07:36:23Z</dcterms:created>
  <dcterms:modified xsi:type="dcterms:W3CDTF">2026-09-29T20:34:48Z</dcterms:modified>
</cp:coreProperties>
</file>